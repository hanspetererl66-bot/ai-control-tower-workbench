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d5aff8dfd9483a" /><Relationship Type="http://schemas.openxmlformats.org/officeDocument/2006/relationships/extended-properties" Target="/docProps/app.xml" Id="R9338bf6ce6c64452" /><Relationship Type="http://schemas.openxmlformats.org/officeDocument/2006/relationships/officeDocument" Target="/ppt/presentation.xml" Id="Rd10f03b187454b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b645f595de477a"/>
  </p:sldMasterIdLst>
  <p:notesMasterIdLst>
    <p:notesMasterId xmlns:r="http://schemas.openxmlformats.org/officeDocument/2006/relationships" r:id="R25744cfaab764d5d"/>
  </p:notesMasterIdLst>
  <p:sldIdLst>
    <p:sldId xmlns:r="http://schemas.openxmlformats.org/officeDocument/2006/relationships" id="256" r:id="Rb2651c8c44614f9b"/>
    <p:sldId xmlns:r="http://schemas.openxmlformats.org/officeDocument/2006/relationships" id="257" r:id="Ra9461a0b0bb14918"/>
    <p:sldId xmlns:r="http://schemas.openxmlformats.org/officeDocument/2006/relationships" id="258" r:id="Racc29fdd4eee48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07d5b569f24d12" /><Relationship Type="http://schemas.openxmlformats.org/officeDocument/2006/relationships/slideMaster" Target="/ppt/slideMasters/slideMaster1.xml" Id="R5ab645f595de477a" /><Relationship Type="http://schemas.openxmlformats.org/officeDocument/2006/relationships/notesMaster" Target="/ppt/notesMasters/notesMaster1.xml" Id="R25744cfaab764d5d" /><Relationship Type="http://schemas.openxmlformats.org/officeDocument/2006/relationships/presProps" Target="/ppt/presProps.xml" Id="Rce93dd9b0ce14d13" /><Relationship Type="http://schemas.openxmlformats.org/officeDocument/2006/relationships/tableStyles" Target="/ppt/tableStyles.xml" Id="Rc978c4ee736044d6" /><Relationship Type="http://schemas.openxmlformats.org/officeDocument/2006/relationships/slide" Target="/ppt/slides/slide1.xml" Id="Rb2651c8c44614f9b" /><Relationship Type="http://schemas.openxmlformats.org/officeDocument/2006/relationships/slide" Target="/ppt/slides/slide2.xml" Id="Ra9461a0b0bb14918" /><Relationship Type="http://schemas.openxmlformats.org/officeDocument/2006/relationships/slide" Target="/ppt/slides/slide3.xml" Id="Racc29fdd4eee48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8bf82f6c3f46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0436f2de794734" /><Relationship Type="http://schemas.openxmlformats.org/officeDocument/2006/relationships/notesMaster" Target="/ppt/notesMasters/notesMaster1.xml" Id="R58b52dd1f0cd49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476a619507473b" /><Relationship Type="http://schemas.openxmlformats.org/officeDocument/2006/relationships/notesMaster" Target="/ppt/notesMasters/notesMaster1.xml" Id="R68a0698e2fb74c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e15da7bc5f4f86" /><Relationship Type="http://schemas.openxmlformats.org/officeDocument/2006/relationships/notesMaster" Target="/ppt/notesMasters/notesMaster1.xml" Id="R83c8ee5bca1d41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9d751f470049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a7d36ed4464bda" /><Relationship Type="http://schemas.openxmlformats.org/officeDocument/2006/relationships/slideLayout" Target="/ppt/slideLayouts/slideLayout1.xml" Id="R4f824cac6fcf4c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824cac6fcf4c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d2f14fd754661" /><Relationship Type="http://schemas.openxmlformats.org/officeDocument/2006/relationships/notesSlide" Target="/ppt/notesSlides/notesSlide1.xml" Id="Ra29de2fe206b46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1f7066b9c45b7" /><Relationship Type="http://schemas.openxmlformats.org/officeDocument/2006/relationships/notesSlide" Target="/ppt/notesSlides/notesSlide2.xml" Id="Rdaca74c0ebf745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18c0b295c4493" /><Relationship Type="http://schemas.openxmlformats.org/officeDocument/2006/relationships/chart" Target="/ppt/slides/charts/chart1.xml" Id="R056d59b85ad94280" /><Relationship Type="http://schemas.openxmlformats.org/officeDocument/2006/relationships/notesSlide" Target="/ppt/notesSlides/notesSlide3.xml" Id="R53c795e8ea16457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Q3 2026 returns</c:v>
          </c:tx>
          <c:spPr>
            <a:solidFill xmlns:a="http://schemas.openxmlformats.org/drawingml/2006/main">
              <a:srgbClr val="168FF0"/>
            </a:solidFill>
          </c:spPr>
          <c:cat>
            <c:strLit>
              <c:ptCount val="5"/>
              <c:pt idx="0">
                <c:v>Packaging damage</c:v>
              </c:pt>
              <c:pt idx="1">
                <c:v>Product defect</c:v>
              </c:pt>
              <c:pt idx="2">
                <c:v>Incorrect item</c:v>
              </c:pt>
              <c:pt idx="3">
                <c:v>Carrier damage</c:v>
              </c:pt>
              <c:pt idx="4">
                <c:v>Documentation</c:v>
              </c:pt>
            </c:strLit>
          </c:cat>
          <c:val>
            <c:numLit>
              <c:formatCode>General</c:formatCode>
              <c:ptCount val="5"/>
              <c:pt idx="0">
                <c:v>171</c:v>
              </c:pt>
              <c:pt idx="1">
                <c:v>111</c:v>
              </c:pt>
              <c:pt idx="2">
                <c:v>31</c:v>
              </c:pt>
              <c:pt idx="3">
                <c:v>30</c:v>
              </c:pt>
              <c:pt idx="4">
                <c:v>13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9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64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83C24-A91C-487E-A8A5-637CF043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FF0"/>
          </a:solidFill>
          <a:ln xmlns:a="http://schemas.openxmlformats.org/drawingml/2006/main" w="0">
            <a:solidFill>
              <a:srgbClr val="168FF0"/>
            </a:solidFill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D365670-B2BF-4407-ABF4-DEB1D54C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CC8FF"/>
                </a:solidFill>
              </a:defRPr>
            </a:pPr>
            <a:r>
              <a:rPr sz="1200" b="1">
                <a:solidFill>
                  <a:srgbClr val="7CC8FF"/>
                </a:solidFill>
              </a:rPr>
              <a:t>BOARD BRIEF · SYNTHETIC DEMO DATA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E988E0A-45E0-4118-A1D5-5236C963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810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Customer Shipment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Defects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611AE98-CF3F-4116-B12A-2B307F18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7E6FF"/>
                </a:solidFill>
              </a:defRPr>
            </a:pPr>
            <a:r>
              <a:rPr sz="1800">
                <a:solidFill>
                  <a:srgbClr val="D7E6FF"/>
                </a:solidFill>
              </a:rPr>
              <a:t>What changed, what drives returns, and what to do in the next 30 days</a:t>
            </a:r>
          </a:p>
        </p:txBody>
      </p:sp>
      <p:sp>
        <p:nvSpPr>
          <p:cNvPr id="5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7B84E547-74C1-4C5C-806E-E72CB961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FC3E8"/>
                </a:solidFill>
              </a:defRPr>
            </a:pPr>
            <a:r>
              <a:rPr sz="1200">
                <a:solidFill>
                  <a:srgbClr val="AFC3E8"/>
                </a:solidFill>
              </a:rPr>
              <a:t>Prepared from workspace/returns.csv · 2024 Q1–2026 Q3</a:t>
            </a:r>
          </a:p>
        </p:txBody>
      </p:sp>
    </p:spTree>
    <p:extLst>
      <p:ext uri="{BB962C8B-B14F-4D97-AF65-F5344CB8AC3E}">
        <p14:creationId xmlns:p14="http://schemas.microsoft.com/office/powerpoint/2010/main" val="387129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0AC4FE-2C0A-404E-95C4-89DF414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6164E"/>
                </a:solidFill>
              </a:defRPr>
            </a:pPr>
            <a:r>
              <a:rPr sz="2700" b="1">
                <a:solidFill>
                  <a:srgbClr val="06164E"/>
                </a:solidFill>
              </a:rPr>
              <a:t>Current state snapshot: Q3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35AFF-1E63-4472-BCED-761EC46F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FF0"/>
          </a:solidFill>
          <a:ln xmlns:a="http://schemas.openxmlformats.org/drawingml/2006/main" w="0">
            <a:solidFill>
              <a:srgbClr val="168FF0"/>
            </a:solidFill>
            <a:prstDash val="solid"/>
          </a:ln>
        </p:spPr>
      </p:sp>
      <p:sp>
        <p:nvSpPr>
          <p:cNvPr id="3" name="metric-1">
            <a:extLst xmlns:a="http://schemas.openxmlformats.org/drawingml/2006/main">
              <a:ext uri="{FF2B5EF4-FFF2-40B4-BE49-F238E27FC236}">
                <a16:creationId xmlns:a16="http://schemas.microsoft.com/office/drawing/2014/main" id="{EB5300DB-D9F4-42AA-9818-0E711B8A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333750" cy="39052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CF7FD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41079-4FDD-4CB1-985E-FE5F920B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2D52"/>
          </a:solidFill>
          <a:ln xmlns:a="http://schemas.openxmlformats.org/drawingml/2006/main" w="0">
            <a:solidFill>
              <a:srgbClr val="D52D52"/>
            </a:solidFill>
            <a:prstDash val="solid"/>
          </a:ln>
        </p:spPr>
      </p:sp>
      <p:sp>
        <p:nvSpPr>
          <p:cNvPr id="5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A9BDF0BF-AE4B-42CC-9A3E-135A01F8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164E"/>
                </a:solidFill>
              </a:defRPr>
            </a:pPr>
            <a:r>
              <a:rPr sz="1650" b="1">
                <a:solidFill>
                  <a:srgbClr val="06164E"/>
                </a:solidFill>
              </a:rPr>
              <a:t>Damage on arrival</a:t>
            </a:r>
          </a:p>
        </p:txBody>
      </p:sp>
      <p:sp>
        <p:nvSpPr>
          <p:cNvPr id="6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D0F34EB5-A2F6-404C-9729-90BBD77A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278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D52D52"/>
                </a:solidFill>
              </a:defRPr>
            </a:pPr>
            <a:r>
              <a:rPr sz="4350" b="1">
                <a:solidFill>
                  <a:srgbClr val="D52D52"/>
                </a:solidFill>
              </a:rPr>
              <a:t>48%</a:t>
            </a:r>
          </a:p>
        </p:txBody>
      </p:sp>
      <p:sp>
        <p:nvSpPr>
          <p:cNvPr id="7" name="metric-delta-1">
            <a:extLst xmlns:a="http://schemas.openxmlformats.org/drawingml/2006/main">
              <a:ext uri="{FF2B5EF4-FFF2-40B4-BE49-F238E27FC236}">
                <a16:creationId xmlns:a16="http://schemas.microsoft.com/office/drawing/2014/main" id="{E87F0464-1EEC-45DF-9750-F901E4A0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6A73"/>
                </a:solidFill>
              </a:defRPr>
            </a:pPr>
            <a:r>
              <a:rPr sz="1275">
                <a:solidFill>
                  <a:srgbClr val="686A73"/>
                </a:solidFill>
              </a:rPr>
              <a:t>+16pp vs. Q1 2024</a:t>
            </a:r>
          </a:p>
        </p:txBody>
      </p:sp>
      <p:sp>
        <p:nvSpPr>
          <p:cNvPr id="8" name="metric-note-1">
            <a:extLst xmlns:a="http://schemas.openxmlformats.org/drawingml/2006/main">
              <a:ext uri="{FF2B5EF4-FFF2-40B4-BE49-F238E27FC236}">
                <a16:creationId xmlns:a16="http://schemas.microsoft.com/office/drawing/2014/main" id="{C858677D-400C-4F44-B38B-D51AECF2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6164E"/>
                </a:solidFill>
              </a:defRPr>
            </a:pPr>
            <a:r>
              <a:rPr sz="1350">
                <a:solidFill>
                  <a:srgbClr val="06164E"/>
                </a:solidFill>
              </a:rPr>
              <a:t>Primary source of the return-rate increase.</a:t>
            </a:r>
          </a:p>
        </p:txBody>
      </p:sp>
      <p:sp>
        <p:nvSpPr>
          <p:cNvPr id="9" name="metric-2">
            <a:extLst xmlns:a="http://schemas.openxmlformats.org/drawingml/2006/main">
              <a:ext uri="{FF2B5EF4-FFF2-40B4-BE49-F238E27FC236}">
                <a16:creationId xmlns:a16="http://schemas.microsoft.com/office/drawing/2014/main" id="{8A03988A-9432-4D11-B37B-9EA88978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24000"/>
            <a:ext cx="3333750" cy="39052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CF7FD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30D08-DE9A-4543-AD1D-5BBB1ADC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240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36B"/>
          </a:solidFill>
          <a:ln xmlns:a="http://schemas.openxmlformats.org/drawingml/2006/main" w="0">
            <a:solidFill>
              <a:srgbClr val="1AA36B"/>
            </a:solidFill>
            <a:prstDash val="solid"/>
          </a:ln>
        </p:spPr>
      </p:sp>
      <p:sp>
        <p:nvSpPr>
          <p:cNvPr id="11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AA2079B4-9D8B-4D96-B9B9-DF6AEF79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669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164E"/>
                </a:solidFill>
              </a:defRPr>
            </a:pPr>
            <a:r>
              <a:rPr sz="1650" b="1">
                <a:solidFill>
                  <a:srgbClr val="06164E"/>
                </a:solidFill>
              </a:rPr>
              <a:t>Product defects</a:t>
            </a:r>
          </a:p>
        </p:txBody>
      </p:sp>
      <p:sp>
        <p:nvSpPr>
          <p:cNvPr id="12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25AD522F-C77F-4A0B-8628-5F4CF9A7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278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AA36B"/>
                </a:solidFill>
              </a:defRPr>
            </a:pPr>
            <a:r>
              <a:rPr sz="4350" b="1">
                <a:solidFill>
                  <a:srgbClr val="1AA36B"/>
                </a:solidFill>
              </a:rPr>
              <a:t>31%</a:t>
            </a:r>
          </a:p>
        </p:txBody>
      </p:sp>
      <p:sp>
        <p:nvSpPr>
          <p:cNvPr id="13" name="metric-delta-2">
            <a:extLst xmlns:a="http://schemas.openxmlformats.org/drawingml/2006/main">
              <a:ext uri="{FF2B5EF4-FFF2-40B4-BE49-F238E27FC236}">
                <a16:creationId xmlns:a16="http://schemas.microsoft.com/office/drawing/2014/main" id="{FD868C10-B02C-4FE7-9FDB-068E20C0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43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6A73"/>
                </a:solidFill>
              </a:defRPr>
            </a:pPr>
            <a:r>
              <a:rPr sz="1275">
                <a:solidFill>
                  <a:srgbClr val="686A73"/>
                </a:solidFill>
              </a:rPr>
              <a:t>+7pp vs. Q1 2024</a:t>
            </a:r>
          </a:p>
        </p:txBody>
      </p:sp>
      <p:sp>
        <p:nvSpPr>
          <p:cNvPr id="14" name="metric-note-2">
            <a:extLst xmlns:a="http://schemas.openxmlformats.org/drawingml/2006/main">
              <a:ext uri="{FF2B5EF4-FFF2-40B4-BE49-F238E27FC236}">
                <a16:creationId xmlns:a16="http://schemas.microsoft.com/office/drawing/2014/main" id="{E64B831A-70E8-4C61-9E8B-11F45DC4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2910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6164E"/>
                </a:solidFill>
              </a:defRPr>
            </a:pPr>
            <a:r>
              <a:rPr sz="1350">
                <a:solidFill>
                  <a:srgbClr val="06164E"/>
                </a:solidFill>
              </a:rPr>
              <a:t>Quality gates have not kept pace with volume.</a:t>
            </a:r>
          </a:p>
        </p:txBody>
      </p:sp>
      <p:sp>
        <p:nvSpPr>
          <p:cNvPr id="15" name="metric-3">
            <a:extLst xmlns:a="http://schemas.openxmlformats.org/drawingml/2006/main">
              <a:ext uri="{FF2B5EF4-FFF2-40B4-BE49-F238E27FC236}">
                <a16:creationId xmlns:a16="http://schemas.microsoft.com/office/drawing/2014/main" id="{E9BB84F1-CDC0-4EE2-953B-C3D600BA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24000"/>
            <a:ext cx="3333750" cy="39052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CF7FD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DF614-03E1-46E1-A61C-88AA150F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240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FF0"/>
          </a:solidFill>
          <a:ln xmlns:a="http://schemas.openxmlformats.org/drawingml/2006/main" w="0">
            <a:solidFill>
              <a:srgbClr val="168FF0"/>
            </a:solidFill>
            <a:prstDash val="solid"/>
          </a:ln>
        </p:spPr>
      </p:sp>
      <p:sp>
        <p:nvSpPr>
          <p:cNvPr id="17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842E02C9-896D-4EF3-88EC-F0D48965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669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164E"/>
                </a:solidFill>
              </a:defRPr>
            </a:pPr>
            <a:r>
              <a:rPr sz="1650" b="1">
                <a:solidFill>
                  <a:srgbClr val="06164E"/>
                </a:solidFill>
              </a:rPr>
              <a:t>Other reasons</a:t>
            </a:r>
          </a:p>
        </p:txBody>
      </p:sp>
      <p:sp>
        <p:nvSpPr>
          <p:cNvPr id="18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DEF766A9-378B-4D89-8BD4-1894AB31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52700"/>
            <a:ext cx="278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68FF0"/>
                </a:solidFill>
              </a:defRPr>
            </a:pPr>
            <a:r>
              <a:rPr sz="4350" b="1">
                <a:solidFill>
                  <a:srgbClr val="168FF0"/>
                </a:solidFill>
              </a:rPr>
              <a:t>21%</a:t>
            </a:r>
          </a:p>
        </p:txBody>
      </p:sp>
      <p:sp>
        <p:nvSpPr>
          <p:cNvPr id="19" name="metric-delta-3">
            <a:extLst xmlns:a="http://schemas.openxmlformats.org/drawingml/2006/main">
              <a:ext uri="{FF2B5EF4-FFF2-40B4-BE49-F238E27FC236}">
                <a16:creationId xmlns:a16="http://schemas.microsoft.com/office/drawing/2014/main" id="{6A481EC7-3C95-4137-9A2A-130DC0C7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6A73"/>
                </a:solidFill>
              </a:defRPr>
            </a:pPr>
            <a:r>
              <a:rPr sz="1275">
                <a:solidFill>
                  <a:srgbClr val="686A73"/>
                </a:solidFill>
              </a:rPr>
              <a:t>−23pp vs. Q1 2024</a:t>
            </a:r>
          </a:p>
        </p:txBody>
      </p:sp>
      <p:sp>
        <p:nvSpPr>
          <p:cNvPr id="20" name="metric-note-3">
            <a:extLst xmlns:a="http://schemas.openxmlformats.org/drawingml/2006/main">
              <a:ext uri="{FF2B5EF4-FFF2-40B4-BE49-F238E27FC236}">
                <a16:creationId xmlns:a16="http://schemas.microsoft.com/office/drawing/2014/main" id="{EDBF3AC4-97E3-4A2C-BF1D-2E67A104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2910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6164E"/>
                </a:solidFill>
              </a:defRPr>
            </a:pPr>
            <a:r>
              <a:rPr sz="1350">
                <a:solidFill>
                  <a:srgbClr val="06164E"/>
                </a:solidFill>
              </a:rPr>
              <a:t>Incorrect item, documents and carrier issues improved.</a:t>
            </a:r>
          </a:p>
        </p:txBody>
      </p:sp>
    </p:spTree>
    <p:extLst>
      <p:ext uri="{BB962C8B-B14F-4D97-AF65-F5344CB8AC3E}">
        <p14:creationId xmlns:p14="http://schemas.microsoft.com/office/powerpoint/2010/main" val="12421188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46665A-4138-480F-A643-512B74F4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6164E"/>
                </a:solidFill>
              </a:defRPr>
            </a:pPr>
            <a:r>
              <a:rPr sz="2700" b="1">
                <a:solidFill>
                  <a:srgbClr val="06164E"/>
                </a:solidFill>
              </a:rPr>
              <a:t>Two causes explain 79% of Q3 returns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A80A6-6A75-4502-B5D9-B21B8BEC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FF0"/>
          </a:solidFill>
          <a:ln xmlns:a="http://schemas.openxmlformats.org/drawingml/2006/main" w="0">
            <a:solidFill>
              <a:srgbClr val="168FF0"/>
            </a:solidFill>
            <a:prstDash val="solid"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5905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6d59b85ad94280"/>
          </a:graphicData>
        </a:graphic>
      </p:graphicFrame>
      <p:sp>
        <p:nvSpPr>
          <p:cNvPr id="4" name="action-kicker">
            <a:extLst xmlns:a="http://schemas.openxmlformats.org/drawingml/2006/main">
              <a:ext uri="{FF2B5EF4-FFF2-40B4-BE49-F238E27FC236}">
                <a16:creationId xmlns:a16="http://schemas.microsoft.com/office/drawing/2014/main" id="{28CC0F81-12D5-4FD1-88AB-EF00882B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5621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8FF0"/>
                </a:solidFill>
              </a:defRPr>
            </a:pPr>
            <a:r>
              <a:rPr sz="1200" b="1">
                <a:solidFill>
                  <a:srgbClr val="168FF0"/>
                </a:solidFill>
              </a:rPr>
              <a:t>NEXT 30 DAYS</a:t>
            </a:r>
          </a:p>
        </p:txBody>
      </p:sp>
      <p:sp>
        <p:nvSpPr>
          <p:cNvPr id="5" name="action-number-1">
            <a:extLst xmlns:a="http://schemas.openxmlformats.org/drawingml/2006/main">
              <a:ext uri="{FF2B5EF4-FFF2-40B4-BE49-F238E27FC236}">
                <a16:creationId xmlns:a16="http://schemas.microsoft.com/office/drawing/2014/main" id="{9CAACBE9-D18A-4CD5-8768-7A55E9A4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145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F6F34-B42E-4077-B255-094B3194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76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64E"/>
          </a:solidFill>
          <a:ln xmlns:a="http://schemas.openxmlformats.org/drawingml/2006/main" w="0">
            <a:solidFill>
              <a:srgbClr val="06164E"/>
            </a:solidFill>
            <a:prstDash val="solid"/>
          </a:ln>
        </p:spPr>
      </p:sp>
      <p:sp>
        <p:nvSpPr>
          <p:cNvPr id="7" name="action-number-top-1">
            <a:extLst xmlns:a="http://schemas.openxmlformats.org/drawingml/2006/main">
              <a:ext uri="{FF2B5EF4-FFF2-40B4-BE49-F238E27FC236}">
                <a16:creationId xmlns:a16="http://schemas.microsoft.com/office/drawing/2014/main" id="{0009A735-B336-4F6D-B572-2057A82C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145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action-copy-1">
            <a:extLst xmlns:a="http://schemas.openxmlformats.org/drawingml/2006/main">
              <a:ext uri="{FF2B5EF4-FFF2-40B4-BE49-F238E27FC236}">
                <a16:creationId xmlns:a16="http://schemas.microsoft.com/office/drawing/2014/main" id="{252C5420-8D22-4FCA-AD30-05F4908A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38350"/>
            <a:ext cx="361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164E"/>
                </a:solidFill>
              </a:defRPr>
            </a:pPr>
            <a:r>
              <a:rPr sz="1500" b="1">
                <a:solidFill>
                  <a:srgbClr val="06164E"/>
                </a:solidFill>
              </a:rPr>
              <a:t>Audit the top 20 high-touch SKUs and the three worst carrier lanes.</a:t>
            </a:r>
          </a:p>
        </p:txBody>
      </p:sp>
      <p:sp>
        <p:nvSpPr>
          <p:cNvPr id="9" name="action-number-2">
            <a:extLst xmlns:a="http://schemas.openxmlformats.org/drawingml/2006/main">
              <a:ext uri="{FF2B5EF4-FFF2-40B4-BE49-F238E27FC236}">
                <a16:creationId xmlns:a16="http://schemas.microsoft.com/office/drawing/2014/main" id="{E2BA622F-608F-448E-997A-2462213A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76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8281B-2118-4756-82C4-FFF869D1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38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64E"/>
          </a:solidFill>
          <a:ln xmlns:a="http://schemas.openxmlformats.org/drawingml/2006/main" w="0">
            <a:solidFill>
              <a:srgbClr val="06164E"/>
            </a:solidFill>
            <a:prstDash val="solid"/>
          </a:ln>
        </p:spPr>
      </p:sp>
      <p:sp>
        <p:nvSpPr>
          <p:cNvPr id="11" name="action-number-top-2">
            <a:extLst xmlns:a="http://schemas.openxmlformats.org/drawingml/2006/main">
              <a:ext uri="{FF2B5EF4-FFF2-40B4-BE49-F238E27FC236}">
                <a16:creationId xmlns:a16="http://schemas.microsoft.com/office/drawing/2014/main" id="{D5C83502-D033-47E3-8F06-2BCB02EB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766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action-copy-2">
            <a:extLst xmlns:a="http://schemas.openxmlformats.org/drawingml/2006/main">
              <a:ext uri="{FF2B5EF4-FFF2-40B4-BE49-F238E27FC236}">
                <a16:creationId xmlns:a16="http://schemas.microsoft.com/office/drawing/2014/main" id="{8061A660-014A-4A5F-8CF6-D4C757A8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00400"/>
            <a:ext cx="361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6164E"/>
                </a:solidFill>
              </a:defRPr>
            </a:pPr>
            <a:r>
              <a:rPr sz="1500" b="0">
                <a:solidFill>
                  <a:srgbClr val="06164E"/>
                </a:solidFill>
              </a:rPr>
              <a:t>Add incoming inspection gates for the five highest-defect SKUs.</a:t>
            </a:r>
          </a:p>
        </p:txBody>
      </p:sp>
      <p:sp>
        <p:nvSpPr>
          <p:cNvPr id="13" name="action-number-3">
            <a:extLst xmlns:a="http://schemas.openxmlformats.org/drawingml/2006/main">
              <a:ext uri="{FF2B5EF4-FFF2-40B4-BE49-F238E27FC236}">
                <a16:creationId xmlns:a16="http://schemas.microsoft.com/office/drawing/2014/main" id="{601F8ECC-86FC-4812-A36C-F59145AF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386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FFE09-E438-421E-8C14-C7CC5CEC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00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64E"/>
          </a:solidFill>
          <a:ln xmlns:a="http://schemas.openxmlformats.org/drawingml/2006/main" w="0">
            <a:solidFill>
              <a:srgbClr val="06164E"/>
            </a:solidFill>
            <a:prstDash val="solid"/>
          </a:ln>
        </p:spPr>
      </p:sp>
      <p:sp>
        <p:nvSpPr>
          <p:cNvPr id="15" name="action-number-top-3">
            <a:extLst xmlns:a="http://schemas.openxmlformats.org/drawingml/2006/main">
              <a:ext uri="{FF2B5EF4-FFF2-40B4-BE49-F238E27FC236}">
                <a16:creationId xmlns:a16="http://schemas.microsoft.com/office/drawing/2014/main" id="{8C055665-339E-4851-BA16-DF3581E1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386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action-copy-3">
            <a:extLst xmlns:a="http://schemas.openxmlformats.org/drawingml/2006/main">
              <a:ext uri="{FF2B5EF4-FFF2-40B4-BE49-F238E27FC236}">
                <a16:creationId xmlns:a16="http://schemas.microsoft.com/office/drawing/2014/main" id="{CD490B92-4B2B-4E64-88DD-8154B737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62450"/>
            <a:ext cx="361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6164E"/>
                </a:solidFill>
              </a:defRPr>
            </a:pPr>
            <a:r>
              <a:rPr sz="1500" b="0">
                <a:solidFill>
                  <a:srgbClr val="06164E"/>
                </a:solidFill>
              </a:rPr>
              <a:t>Reduce average resolution time from 8.3 to 7.5 days.</a:t>
            </a:r>
          </a:p>
        </p:txBody>
      </p:sp>
    </p:spTree>
    <p:extLst>
      <p:ext uri="{BB962C8B-B14F-4D97-AF65-F5344CB8AC3E}">
        <p14:creationId xmlns:p14="http://schemas.microsoft.com/office/powerpoint/2010/main" val="5847444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2026-08-05T15:39:16.2760000Z</dcterms:created>
  <dcterms:modified xsi:type="dcterms:W3CDTF">2026-08-05T15:39:16.2760000Z</dcterms:modified>
</coreProperties>
</file>